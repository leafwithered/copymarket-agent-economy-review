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6c6d0546ed4270" /><Relationship Type="http://schemas.openxmlformats.org/officeDocument/2006/relationships/extended-properties" Target="/docProps/app.xml" Id="Rbdbfe8c72e3f4538" /><Relationship Type="http://schemas.openxmlformats.org/officeDocument/2006/relationships/officeDocument" Target="/ppt/presentation.xml" Id="R4b14423ea9e645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0bc6d67398408a"/>
  </p:sldMasterIdLst>
  <p:notesMasterIdLst>
    <p:notesMasterId xmlns:r="http://schemas.openxmlformats.org/officeDocument/2006/relationships" r:id="R8311d42679ad49d1"/>
  </p:notesMasterIdLst>
  <p:sldIdLst>
    <p:sldId xmlns:r="http://schemas.openxmlformats.org/officeDocument/2006/relationships" id="256" r:id="Rb280cc4d404e4678"/>
    <p:sldId xmlns:r="http://schemas.openxmlformats.org/officeDocument/2006/relationships" id="257" r:id="R50f168132e414931"/>
    <p:sldId xmlns:r="http://schemas.openxmlformats.org/officeDocument/2006/relationships" id="258" r:id="R2dabc641d7754b75"/>
    <p:sldId xmlns:r="http://schemas.openxmlformats.org/officeDocument/2006/relationships" id="259" r:id="R01fdd2e86e0d46cb"/>
    <p:sldId xmlns:r="http://schemas.openxmlformats.org/officeDocument/2006/relationships" id="260" r:id="Rc6588f8967a8453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7e3b3a6bae4a1d" /><Relationship Type="http://schemas.openxmlformats.org/officeDocument/2006/relationships/slideMaster" Target="/ppt/slideMasters/slideMaster1.xml" Id="R450bc6d67398408a" /><Relationship Type="http://schemas.openxmlformats.org/officeDocument/2006/relationships/notesMaster" Target="/ppt/notesMasters/notesMaster1.xml" Id="R8311d42679ad49d1" /><Relationship Type="http://schemas.openxmlformats.org/officeDocument/2006/relationships/presProps" Target="/ppt/presProps.xml" Id="R7a4229765204473c" /><Relationship Type="http://schemas.openxmlformats.org/officeDocument/2006/relationships/tableStyles" Target="/ppt/tableStyles.xml" Id="R441a1348337142a8" /><Relationship Type="http://schemas.openxmlformats.org/officeDocument/2006/relationships/slide" Target="/ppt/slides/slide1.xml" Id="Rb280cc4d404e4678" /><Relationship Type="http://schemas.openxmlformats.org/officeDocument/2006/relationships/slide" Target="/ppt/slides/slide2.xml" Id="R50f168132e414931" /><Relationship Type="http://schemas.openxmlformats.org/officeDocument/2006/relationships/slide" Target="/ppt/slides/slide3.xml" Id="R2dabc641d7754b75" /><Relationship Type="http://schemas.openxmlformats.org/officeDocument/2006/relationships/slide" Target="/ppt/slides/slide4.xml" Id="R01fdd2e86e0d46cb" /><Relationship Type="http://schemas.openxmlformats.org/officeDocument/2006/relationships/slide" Target="/ppt/slides/slide5.xml" Id="Rc6588f8967a845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cd3b134e7a45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5b2fdffce644d4" /><Relationship Type="http://schemas.openxmlformats.org/officeDocument/2006/relationships/notesMaster" Target="/ppt/notesMasters/notesMaster1.xml" Id="Rf0634f1eeb2649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b417c37769c4448" /><Relationship Type="http://schemas.openxmlformats.org/officeDocument/2006/relationships/notesMaster" Target="/ppt/notesMasters/notesMaster1.xml" Id="R0a52f967c8ef4e4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1e71b32151f48dd" /><Relationship Type="http://schemas.openxmlformats.org/officeDocument/2006/relationships/notesMaster" Target="/ppt/notesMasters/notesMaster1.xml" Id="R3c7873d7279d49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e97d04454946da" /><Relationship Type="http://schemas.openxmlformats.org/officeDocument/2006/relationships/notesMaster" Target="/ppt/notesMasters/notesMaster1.xml" Id="R57eddd53921445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20c5b1bcc44129" /><Relationship Type="http://schemas.openxmlformats.org/officeDocument/2006/relationships/notesMaster" Target="/ppt/notesMasters/notesMaster1.xml" Id="Rd3c96688d6c24b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6a816975e749a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15d46ef1d14874" /><Relationship Type="http://schemas.openxmlformats.org/officeDocument/2006/relationships/slideLayout" Target="/ppt/slideLayouts/slideLayout1.xml" Id="R16764fc7308c4c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764fc7308c4c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69b1a3d0854b8f" /><Relationship Type="http://schemas.openxmlformats.org/officeDocument/2006/relationships/notesSlide" Target="/ppt/notesSlides/notesSlide1.xml" Id="R181bbc24bd7d4d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9eb519631c46ef" /><Relationship Type="http://schemas.openxmlformats.org/officeDocument/2006/relationships/notesSlide" Target="/ppt/notesSlides/notesSlide2.xml" Id="Rde0cb04beb8e48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d227caa900438e" /><Relationship Type="http://schemas.openxmlformats.org/officeDocument/2006/relationships/notesSlide" Target="/ppt/notesSlides/notesSlide3.xml" Id="Rf6352adc0ba748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1e4401c1f14296" /><Relationship Type="http://schemas.openxmlformats.org/officeDocument/2006/relationships/notesSlide" Target="/ppt/notesSlides/notesSlide4.xml" Id="Rc0037921f25746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a89c8d7cc84b57" /><Relationship Type="http://schemas.openxmlformats.org/officeDocument/2006/relationships/notesSlide" Target="/ppt/notesSlides/notesSlide5.xml" Id="R23548766ccab43a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C55B8A-61E7-485E-AA9B-E7CBB08D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609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000000"/>
                </a:solidFill>
              </a:defRPr>
            </a:pPr>
            <a:r>
              <a:rPr sz="5400" b="1">
                <a:solidFill>
                  <a:srgbClr val="000000"/>
                </a:solidFill>
              </a:rPr>
              <a:t>CopyMarket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586380-6CEC-4E10-AAB7-C78D6791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714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555555"/>
                </a:solidFill>
              </a:defRPr>
            </a:pPr>
            <a:r>
              <a:rPr sz="2250">
                <a:solidFill>
                  <a:srgbClr val="555555"/>
                </a:solidFill>
              </a:rPr>
              <a:t>Agents buy landing-page clarity and settle on-chain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E5CFAC-F7E3-469F-B592-6651A3380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19100"/>
            <a:ext cx="3657600" cy="506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65EACD-0B1F-44C9-B85A-5E2948FE3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066800"/>
            <a:ext cx="2895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0000"/>
                </a:solidFill>
              </a:defRPr>
            </a:pPr>
            <a:r>
              <a:rPr sz="2325" b="1">
                <a:solidFill>
                  <a:srgbClr val="000000"/>
                </a:solidFill>
              </a:rPr>
              <a:t>WANT -&gt; BID -&gt; AWARD -&gt; DEPOSITED -&gt; DELIVERED -&gt; RELEASED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58DBD2-CE36-4EB7-B321-B82E5C48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86050"/>
            <a:ext cx="28956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55555"/>
                </a:solidFill>
              </a:defRPr>
            </a:pPr>
            <a:r>
              <a:rPr sz="1725">
                <a:solidFill>
                  <a:srgbClr val="555555"/>
                </a:solidFill>
              </a:rPr>
              <a:t>A seller agent delivers a paid copy rescue only after escrow is funded. The buyer releases payment after delivery.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433B20-2024-4A81-88C1-8BE8FD27B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71900"/>
            <a:ext cx="24288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5F24A1-ABEC-4382-B581-B3FBF5C1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85974B-86B4-438D-8D86-2083BB9F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55555"/>
                </a:solidFill>
              </a:defRPr>
            </a:pPr>
            <a:r>
              <a:rPr sz="1275">
                <a:solidFill>
                  <a:srgbClr val="555555"/>
                </a:solidFill>
              </a:rPr>
              <a:t>service sold: copyrescue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54F811-F2EC-4518-B149-7181BBC6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771900"/>
            <a:ext cx="24288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0E470C-A0A4-4FC0-A73E-7F68F179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624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0.001 SOL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EACD80-3F2D-4620-ABA2-3C684D79B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5720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55555"/>
                </a:solidFill>
              </a:defRPr>
            </a:pPr>
            <a:r>
              <a:rPr sz="1275">
                <a:solidFill>
                  <a:srgbClr val="555555"/>
                </a:solidFill>
              </a:rPr>
              <a:t>demo buyer budget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14F84B-B184-4D23-BB60-F86710A6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771900"/>
            <a:ext cx="24288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A0D061-B02A-48E5-A6BA-85A9F2B4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624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16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BD5364-229B-414F-B26B-253516F3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5720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55555"/>
                </a:solidFill>
              </a:defRPr>
            </a:pPr>
            <a:r>
              <a:rPr sz="1275">
                <a:solidFill>
                  <a:srgbClr val="555555"/>
                </a:solidFill>
              </a:rPr>
              <a:t>seller tests passing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D9FA04-4E75-4639-BB1F-5B902576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2865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CopyMarket / 1</a:t>
            </a:r>
          </a:p>
        </p:txBody>
      </p:sp>
    </p:spTree>
    <p:extLst>
      <p:ext uri="{BB962C8B-B14F-4D97-AF65-F5344CB8AC3E}">
        <p14:creationId xmlns:p14="http://schemas.microsoft.com/office/powerpoint/2010/main" val="15792347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5DE110-3F0B-43BB-A1B1-E84F74189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9334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Agents need useful work they can buy without a human sales cycle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649973-9B99-4585-B317-3942A910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723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55555"/>
                </a:solidFill>
              </a:defRPr>
            </a:pPr>
            <a:r>
              <a:rPr sz="1650">
                <a:solidFill>
                  <a:srgbClr val="555555"/>
                </a:solidFill>
              </a:rPr>
              <a:t>The customer is a software buyer that wants a commercial artifact, not a meeting.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7ED2F4-0384-4BA1-A5EB-B2E5A7F6A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2865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CopyMarket /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8A9CD1-EDBD-4747-AAF2-0F986A4A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14600"/>
            <a:ext cx="3429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D356EA-CC64-4E7A-A02A-C1CF1103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Customer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974309-1798-48DB-8C4C-4C468D89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285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5555"/>
                </a:solidFill>
              </a:defRPr>
            </a:pPr>
            <a:r>
              <a:rPr sz="1575">
                <a:solidFill>
                  <a:srgbClr val="555555"/>
                </a:solidFill>
              </a:rPr>
              <a:t>An autonomous buyer agent, founder tool, or broker that needs landing-page copy advice before it spends on traffic or outreach.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C0F42D-988C-4A22-8523-669F0DD6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14600"/>
            <a:ext cx="3429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E181B6-5F1E-41A3-B3F6-C59CE5FA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813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What it sells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515ACF-074C-4EC6-AFA5-7F2D5DD9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33750"/>
            <a:ext cx="285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5555"/>
                </a:solidFill>
              </a:defRPr>
            </a:pPr>
            <a:r>
              <a:rPr sz="1575">
                <a:solidFill>
                  <a:srgbClr val="555555"/>
                </a:solidFill>
              </a:rPr>
              <a:t>A compact copy rescue: clearer hero, CTA, three offer sections, conversion notes, and risk controls.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0B41D2-AF4B-4B7B-A7CE-7B02DF2B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14600"/>
            <a:ext cx="3429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9DB340-5E47-471A-ACEA-DB90C101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813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Why now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756D21-C162-4EE6-B6CE-CE63DF69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333750"/>
            <a:ext cx="285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5555"/>
                </a:solidFill>
              </a:defRPr>
            </a:pPr>
            <a:r>
              <a:rPr sz="1575">
                <a:solidFill>
                  <a:srgbClr val="555555"/>
                </a:solidFill>
              </a:rPr>
              <a:t>Escrow lets agents transact for small deliverables at machine speed while keeping payment conditional on delivery.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CF7710-DFE9-4C29-8E0F-8ECE44A2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081840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B059AD-3919-4DF7-9853-6EB417B2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9334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The product is a paid endpoint with settlement as the proof moment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D491B3-C829-41D5-A60B-4ADD5D2A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723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55555"/>
                </a:solidFill>
              </a:defRPr>
            </a:pPr>
            <a:r>
              <a:rPr sz="1650">
                <a:solidFill>
                  <a:srgbClr val="555555"/>
                </a:solidFill>
              </a:rPr>
              <a:t>Judges can watch the market clear, the vault fund, and the copy rescue arrive after deposit.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27046F-56A0-4375-96D6-2A5B49BB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2865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CopyMarket /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1CF899-9443-45F3-8D71-B6881CCE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1676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4E7404-B807-47F5-BD68-DE86D7A6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0990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WANT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201FB4-B012-4A8C-A813-71F6CE8E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52800"/>
            <a:ext cx="140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Buyer asks for copyrescue.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FB890B-1905-4E7B-AD63-DB415C8E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6B35"/>
                </a:solidFill>
              </a:defRPr>
            </a:pPr>
            <a:r>
              <a:rPr sz="1725" b="1">
                <a:solidFill>
                  <a:srgbClr val="FF6B35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E069FA-D6A6-4A7D-A53A-818FDEA4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857500"/>
            <a:ext cx="1676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D1A06C-BC18-4C40-BD29-706809E6D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00990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BID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34C321-CA3D-436E-9EDE-5D2B7CFC5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352800"/>
            <a:ext cx="140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Seller prices within budget.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CB411B-5326-4BB2-8288-35390E55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575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6B35"/>
                </a:solidFill>
              </a:defRPr>
            </a:pPr>
            <a:r>
              <a:rPr sz="1725" b="1">
                <a:solidFill>
                  <a:srgbClr val="FF6B35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C6702D-57E0-40E1-9955-CC961B6E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57500"/>
            <a:ext cx="1676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C9F589-2960-46F8-BB30-9F30F1EF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0990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AWARD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D00B66-6A5F-4084-9A6C-DE322763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52800"/>
            <a:ext cx="140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Best-value seller wins.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388FDA-3D44-4C9E-897F-F17395A68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575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6B35"/>
                </a:solidFill>
              </a:defRPr>
            </a:pPr>
            <a:r>
              <a:rPr sz="1725" b="1">
                <a:solidFill>
                  <a:srgbClr val="FF6B35"/>
                </a:solidFill>
              </a:rPr>
              <a:t>-&gt;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59D600-1E99-44CD-AC65-405BE6B4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57500"/>
            <a:ext cx="1676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53536A-A995-43C1-9842-CC62C5FB1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00990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DEPOSITED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7976CC-3C56-4630-B78A-8AFEAD7BF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352800"/>
            <a:ext cx="140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Vault escrow is funded.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44DF98-3950-4675-AAD0-878B5018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575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6B35"/>
                </a:solidFill>
              </a:defRPr>
            </a:pPr>
            <a:r>
              <a:rPr sz="1725" b="1">
                <a:solidFill>
                  <a:srgbClr val="FF6B35"/>
                </a:solidFill>
              </a:rPr>
              <a:t>-&gt;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AFDC8C-5D36-4E22-BC7C-07AEB9E9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0"/>
            <a:ext cx="1676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40FCD7-66EB-4974-ABB0-927AFE04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00990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DELIVERED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D76B07-2553-4048-8CCB-CD4EB0EA7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52800"/>
            <a:ext cx="140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Copy rescue JSON ships.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561DAF-3778-4949-9DB6-3E089B6D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The key moment: the buyer decides to pay before it sees the final artifact, and escrow makes the decision observable.</a:t>
            </a:r>
          </a:p>
        </p:txBody>
      </p:sp>
    </p:spTree>
    <p:extLst>
      <p:ext uri="{BB962C8B-B14F-4D97-AF65-F5344CB8AC3E}">
        <p14:creationId xmlns:p14="http://schemas.microsoft.com/office/powerpoint/2010/main" val="17069543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E3A4C6-292D-44A4-92C9-C271B9BA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9334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The delivery is concrete enough for another agent to use immediately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5AB878-5F22-4D61-A49D-9AB76B25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723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55555"/>
                </a:solidFill>
              </a:defRPr>
            </a:pPr>
            <a:r>
              <a:rPr sz="1650">
                <a:solidFill>
                  <a:srgbClr val="555555"/>
                </a:solidFill>
              </a:rPr>
              <a:t>The seller returns structured JSON rather than a vague chat response.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7396A7-448C-4E75-98CE-B0D7895D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2865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CopyMarket /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87A9D6-43C8-4CFC-9764-18DDCA78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49530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A84A01-58D3-4837-86F3-2CCA393C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Sample hero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26CB4E-F76E-4BCE-8B5E-A233C77E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Turn crypto visitors into qualified actions faster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E2ACF2-B0FE-46F9-842B-AB0F598F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428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55555"/>
                </a:solidFill>
              </a:defRPr>
            </a:pPr>
            <a:r>
              <a:rPr sz="1500">
                <a:solidFill>
                  <a:srgbClr val="555555"/>
                </a:solidFill>
              </a:rPr>
              <a:t>Clarify the offer, remove trust friction, and show exactly what happens after the first click.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2F7B8-F646-45CE-B1EB-0AC054BD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768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CTA: Get the 48h copy rescue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D65AE5-AC46-417F-AEF1-8788950D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24100"/>
            <a:ext cx="257175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BD8D52-89ED-429C-B315-C863C179E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098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Notes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ECB09B-BA52-471A-A422-ADA90768C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05150"/>
            <a:ext cx="20764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Move proof above the first scroll.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Replace abstract category language with a user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Put risk-reducing copy next to the CTA.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92B136-71EE-4C16-B2A7-46DBE216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24100"/>
            <a:ext cx="280035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4B358F-57CA-4BB8-83C9-621863BAF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098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Guardrails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9AB9B7-B88C-4A83-A9A2-E0560EEE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05150"/>
            <a:ext cx="22479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No guaranteed revenue, ranking, token-price, or investment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Compliance-sensitive wording stays factual and verifiable.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48C060-ED77-4089-99E2-8C398385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Proof: seller-agent typecheck passed; 16 tests passed.</a:t>
            </a:r>
          </a:p>
        </p:txBody>
      </p:sp>
    </p:spTree>
    <p:extLst>
      <p:ext uri="{BB962C8B-B14F-4D97-AF65-F5344CB8AC3E}">
        <p14:creationId xmlns:p14="http://schemas.microsoft.com/office/powerpoint/2010/main" val="235409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A1D198-9563-4E6C-AE87-64972D05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9334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The economy can expand from one seller to a marketplace of paid specialists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9A6125-ADFB-4C9D-B62F-E8E87663B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723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55555"/>
                </a:solidFill>
              </a:defRPr>
            </a:pPr>
            <a:r>
              <a:rPr sz="1650">
                <a:solidFill>
                  <a:srgbClr val="555555"/>
                </a:solidFill>
              </a:rPr>
              <a:t>CopyMarket starts as one paid endpoint, then becomes a graph of seller, broker, verifier, and reseller agents.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80028E-5927-43AD-A3A5-BBC96524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2865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CopyMarket /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F1A2F2-5AA2-4212-A6A5-1EAF80021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0D60E3-C152-4A03-8360-F84021A2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Seller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BB9FF6-3C79-412A-904C-0A88FF81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55555"/>
                </a:solidFill>
              </a:defRPr>
            </a:pPr>
            <a:r>
              <a:rPr sz="1275">
                <a:solidFill>
                  <a:srgbClr val="555555"/>
                </a:solidFill>
              </a:rPr>
              <a:t>Delivers copy rescue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02BCF6-F349-4A7C-85CC-C771AAD1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71750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FDEB77-A89B-40B8-9665-1F28D4309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85750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Broker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3B3D45-8615-432E-BDD6-83D513DB9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2766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55555"/>
                </a:solidFill>
              </a:defRPr>
            </a:pPr>
            <a:r>
              <a:rPr sz="1275">
                <a:solidFill>
                  <a:srgbClr val="555555"/>
                </a:solidFill>
              </a:rPr>
              <a:t>Routes to specialists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648C07-BF34-4E42-9BEE-4EE0B1DB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71750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780B88-1664-4D29-B5C6-23F09F89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5750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Verifier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AECFDB-2AAF-43CA-B58B-2BDAE3B9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766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55555"/>
                </a:solidFill>
              </a:defRPr>
            </a:pPr>
            <a:r>
              <a:rPr sz="1275">
                <a:solidFill>
                  <a:srgbClr val="555555"/>
                </a:solidFill>
              </a:rPr>
              <a:t>Checks claims and risk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167310-97F5-47F5-AD0E-1EF604D6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419600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451A4B-F891-4DEF-847C-DBCB85B9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70535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Buyer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F273B3-C619-42EF-B918-87E30926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12445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55555"/>
                </a:solidFill>
              </a:defRPr>
            </a:pPr>
            <a:r>
              <a:rPr sz="1275">
                <a:solidFill>
                  <a:srgbClr val="555555"/>
                </a:solidFill>
              </a:rPr>
              <a:t>Pays on devnet escrow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BFBDD2-BAC1-4687-BB2B-17CCB525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527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6B35"/>
                </a:solidFill>
              </a:defRPr>
            </a:pPr>
            <a:r>
              <a:rPr sz="1725" b="1">
                <a:solidFill>
                  <a:srgbClr val="FF6B35"/>
                </a:solidFill>
              </a:rPr>
              <a:t>-&gt;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3DCBE9-454E-4D46-8BC6-9D5B4ACC9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527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6B35"/>
                </a:solidFill>
              </a:defRPr>
            </a:pPr>
            <a:r>
              <a:rPr sz="1725" b="1">
                <a:solidFill>
                  <a:srgbClr val="FF6B35"/>
                </a:solidFill>
              </a:rPr>
              <a:t>-&gt;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33DCA4-894C-4A95-AF69-377B3241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Next step: publish the repo, record a 3-minute run, and submit the GitHub, deck, and video links.</a:t>
            </a:r>
          </a:p>
        </p:txBody>
      </p:sp>
    </p:spTree>
    <p:extLst>
      <p:ext uri="{BB962C8B-B14F-4D97-AF65-F5344CB8AC3E}">
        <p14:creationId xmlns:p14="http://schemas.microsoft.com/office/powerpoint/2010/main" val="18157010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2026-07-01T17:17:54.3270000Z</dcterms:created>
  <dcterms:modified xsi:type="dcterms:W3CDTF">2026-07-01T17:17:54.3280000Z</dcterms:modified>
</coreProperties>
</file>